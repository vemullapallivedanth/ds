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85" r:id="rId1"/>
  </p:sldMasterIdLst>
  <p:notesMasterIdLst>
    <p:notesMasterId r:id="rId11"/>
  </p:notesMasterIdLst>
  <p:sldIdLst>
    <p:sldId id="256" r:id="rId2"/>
    <p:sldId id="270" r:id="rId3"/>
    <p:sldId id="258" r:id="rId4"/>
    <p:sldId id="259" r:id="rId5"/>
    <p:sldId id="260" r:id="rId6"/>
    <p:sldId id="261" r:id="rId7"/>
    <p:sldId id="262" r:id="rId8"/>
    <p:sldId id="267" r:id="rId9"/>
    <p:sldId id="269" r:id="rId10"/>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404" autoAdjust="0"/>
  </p:normalViewPr>
  <p:slideViewPr>
    <p:cSldViewPr>
      <p:cViewPr>
        <p:scale>
          <a:sx n="64" d="100"/>
          <a:sy n="64" d="100"/>
        </p:scale>
        <p:origin x="748" y="21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11EE2CC-D034-49A0-BF00-8EC95D6DBADD}" type="datetimeFigureOut">
              <a:rPr lang="en-IN" smtClean="0"/>
              <a:t>28-03-2026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10C3FF5-7224-4BE0-9C29-46C0BFC5975C}" type="slidenum">
              <a:rPr lang="en-IN" smtClean="0"/>
              <a:t>‹#›</a:t>
            </a:fld>
            <a:endParaRPr lang="en-IN"/>
          </a:p>
        </p:txBody>
      </p:sp>
    </p:spTree>
    <p:extLst>
      <p:ext uri="{BB962C8B-B14F-4D97-AF65-F5344CB8AC3E}">
        <p14:creationId xmlns:p14="http://schemas.microsoft.com/office/powerpoint/2010/main" val="1782542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3/28/2026</a:t>
            </a:fld>
            <a:endParaRPr lang="en-US"/>
          </a:p>
        </p:txBody>
      </p:sp>
      <p:sp>
        <p:nvSpPr>
          <p:cNvPr id="5" name="Footer Placeholder 4"/>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5416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3/28/2026</a:t>
            </a:fld>
            <a:endParaRPr lang="en-US"/>
          </a:p>
        </p:txBody>
      </p:sp>
      <p:sp>
        <p:nvSpPr>
          <p:cNvPr id="5" name="Footer Placeholder 4"/>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2845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3/28/2026</a:t>
            </a:fld>
            <a:endParaRPr lang="en-US"/>
          </a:p>
        </p:txBody>
      </p:sp>
      <p:sp>
        <p:nvSpPr>
          <p:cNvPr id="5" name="Footer Placeholder 4"/>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18357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3/28/2026</a:t>
            </a:fld>
            <a:endParaRPr lang="en-US"/>
          </a:p>
        </p:txBody>
      </p:sp>
      <p:sp>
        <p:nvSpPr>
          <p:cNvPr id="6" name="Footer Placeholder 5"/>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181755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3/28/2026</a:t>
            </a:fld>
            <a:endParaRPr lang="en-US"/>
          </a:p>
        </p:txBody>
      </p:sp>
      <p:sp>
        <p:nvSpPr>
          <p:cNvPr id="8" name="Footer Placeholder 7"/>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03627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3/28/2026</a:t>
            </a:fld>
            <a:endParaRPr lang="en-US"/>
          </a:p>
        </p:txBody>
      </p:sp>
      <p:sp>
        <p:nvSpPr>
          <p:cNvPr id="4" name="Footer Placeholder 3"/>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06232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1D8BD707-D9CF-40AE-B4C6-C98DA3205C09}" type="datetimeFigureOut">
              <a:rPr lang="en-US" smtClean="0"/>
              <a:t>3/28/2026</a:t>
            </a:fld>
            <a:endParaRPr lang="en-US"/>
          </a:p>
        </p:txBody>
      </p:sp>
      <p:sp>
        <p:nvSpPr>
          <p:cNvPr id="3" name="Footer Placeholder 2"/>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536809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3/28/2026</a:t>
            </a:fld>
            <a:endParaRPr lang="en-US"/>
          </a:p>
        </p:txBody>
      </p:sp>
      <p:sp>
        <p:nvSpPr>
          <p:cNvPr id="6" name="Footer Placeholder 5"/>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90742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3/28/2026</a:t>
            </a:fld>
            <a:endParaRPr lang="en-US"/>
          </a:p>
        </p:txBody>
      </p:sp>
      <p:sp>
        <p:nvSpPr>
          <p:cNvPr id="6" name="Footer Placeholder 5"/>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071296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3/28/2026</a:t>
            </a:fld>
            <a:endParaRPr lang="en-US"/>
          </a:p>
        </p:txBody>
      </p:sp>
      <p:sp>
        <p:nvSpPr>
          <p:cNvPr id="6" name="Footer Placeholder 5"/>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45502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3/28/2026</a:t>
            </a:fld>
            <a:endParaRPr lang="en-US"/>
          </a:p>
        </p:txBody>
      </p:sp>
      <p:sp>
        <p:nvSpPr>
          <p:cNvPr id="6" name="Footer Placeholder 5"/>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593849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3/28/2026</a:t>
            </a:fld>
            <a:endParaRPr lang="en-US"/>
          </a:p>
        </p:txBody>
      </p:sp>
      <p:sp>
        <p:nvSpPr>
          <p:cNvPr id="6" name="Footer Placeholder 5"/>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65618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3/28/2026</a:t>
            </a:fld>
            <a:endParaRPr lang="en-US"/>
          </a:p>
        </p:txBody>
      </p:sp>
      <p:sp>
        <p:nvSpPr>
          <p:cNvPr id="6" name="Footer Placeholder 5"/>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117667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t>3/28/2026</a:t>
            </a:fld>
            <a:endParaRPr lang="en-US"/>
          </a:p>
        </p:txBody>
      </p:sp>
      <p:sp>
        <p:nvSpPr>
          <p:cNvPr id="4" name="Footer Placeholder 3"/>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909841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t>3/28/2026</a:t>
            </a:fld>
            <a:endParaRPr lang="en-US"/>
          </a:p>
        </p:txBody>
      </p:sp>
      <p:sp>
        <p:nvSpPr>
          <p:cNvPr id="4" name="Footer Placeholder 3"/>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818838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3/28/2026</a:t>
            </a:fld>
            <a:endParaRPr lang="en-US"/>
          </a:p>
        </p:txBody>
      </p:sp>
      <p:sp>
        <p:nvSpPr>
          <p:cNvPr id="5" name="Footer Placeholder 4"/>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126502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3/28/2026</a:t>
            </a:fld>
            <a:endParaRPr lang="en-US"/>
          </a:p>
        </p:txBody>
      </p:sp>
      <p:sp>
        <p:nvSpPr>
          <p:cNvPr id="5" name="Footer Placeholder 4"/>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147867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3/28/2026</a:t>
            </a:fld>
            <a:endParaRPr lang="en-US"/>
          </a:p>
        </p:txBody>
      </p:sp>
      <p:sp>
        <p:nvSpPr>
          <p:cNvPr id="5" name="Footer Placeholder 4"/>
          <p:cNvSpPr>
            <a:spLocks noGrp="1"/>
          </p:cNvSpPr>
          <p:nvPr>
            <p:ph type="ftr" sz="quarter" idx="11"/>
          </p:nvPr>
        </p:nvSpPr>
        <p:spPr/>
        <p:txBody>
          <a:body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759190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1D8BD707-D9CF-40AE-B4C6-C98DA3205C09}" type="datetimeFigureOut">
              <a:rPr lang="en-US" smtClean="0"/>
              <a:t>3/28/2026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pPr marL="12700">
              <a:lnSpc>
                <a:spcPts val="1810"/>
              </a:lnSpc>
            </a:pPr>
            <a:r>
              <a:rPr lang="en-US" spc="-80"/>
              <a:t>Ideathon’24</a:t>
            </a:r>
            <a:r>
              <a:rPr lang="en-US" spc="-100"/>
              <a:t> </a:t>
            </a:r>
            <a:r>
              <a:rPr lang="en-US" spc="-75"/>
              <a:t>E6</a:t>
            </a:r>
            <a:r>
              <a:rPr lang="en-US" spc="-114"/>
              <a:t> </a:t>
            </a:r>
            <a:r>
              <a:rPr lang="en-US" spc="-130"/>
              <a:t>|</a:t>
            </a:r>
            <a:r>
              <a:rPr lang="en-US" spc="-110"/>
              <a:t> </a:t>
            </a:r>
            <a:r>
              <a:rPr lang="en-US" spc="-90"/>
              <a:t>ACIC</a:t>
            </a:r>
            <a:r>
              <a:rPr lang="en-US" spc="-110"/>
              <a:t> </a:t>
            </a:r>
            <a:r>
              <a:rPr lang="en-US" spc="-140"/>
              <a:t>KL</a:t>
            </a:r>
            <a:r>
              <a:rPr lang="en-US" spc="-90"/>
              <a:t> </a:t>
            </a:r>
            <a:r>
              <a:rPr lang="en-US" spc="-85"/>
              <a:t>Startups</a:t>
            </a:r>
            <a:r>
              <a:rPr lang="en-US" spc="-105"/>
              <a:t> </a:t>
            </a:r>
            <a:r>
              <a:rPr lang="en-US" spc="-50"/>
              <a:t>Foundation</a:t>
            </a:r>
            <a:endParaRPr lang="en-US" spc="-50"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3981998065"/>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FA03955-834E-CD3A-42B9-5356552B77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472" y="188976"/>
            <a:ext cx="1419218" cy="83820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27A2918-AE6B-95A3-B59A-E75323D82F2D}"/>
              </a:ext>
            </a:extLst>
          </p:cNvPr>
          <p:cNvSpPr txBox="1"/>
          <p:nvPr/>
        </p:nvSpPr>
        <p:spPr>
          <a:xfrm>
            <a:off x="1600200" y="152400"/>
            <a:ext cx="10210800" cy="707886"/>
          </a:xfrm>
          <a:prstGeom prst="rect">
            <a:avLst/>
          </a:prstGeom>
          <a:noFill/>
        </p:spPr>
        <p:txBody>
          <a:bodyPr wrap="square" rtlCol="0">
            <a:spAutoFit/>
          </a:bodyPr>
          <a:lstStyle/>
          <a:p>
            <a:pPr algn="ctr"/>
            <a:r>
              <a:rPr lang="en-IN" sz="4000" b="1" u="sng" dirty="0"/>
              <a:t>BANK MANAGEMENT SYSTEM</a:t>
            </a:r>
          </a:p>
        </p:txBody>
      </p:sp>
      <p:sp>
        <p:nvSpPr>
          <p:cNvPr id="6" name="Title 1">
            <a:extLst>
              <a:ext uri="{FF2B5EF4-FFF2-40B4-BE49-F238E27FC236}">
                <a16:creationId xmlns:a16="http://schemas.microsoft.com/office/drawing/2014/main" id="{BC42277C-DCAC-603E-5D41-1060152951D9}"/>
              </a:ext>
            </a:extLst>
          </p:cNvPr>
          <p:cNvSpPr>
            <a:spLocks noGrp="1"/>
          </p:cNvSpPr>
          <p:nvPr/>
        </p:nvSpPr>
        <p:spPr>
          <a:xfrm>
            <a:off x="-1752600" y="1189037"/>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sz="3200" dirty="0"/>
          </a:p>
        </p:txBody>
      </p:sp>
      <p:sp>
        <p:nvSpPr>
          <p:cNvPr id="7" name="Content Placeholder 2">
            <a:extLst>
              <a:ext uri="{FF2B5EF4-FFF2-40B4-BE49-F238E27FC236}">
                <a16:creationId xmlns:a16="http://schemas.microsoft.com/office/drawing/2014/main" id="{92FB06A2-69F2-A1FE-8698-63AC23667A20}"/>
              </a:ext>
            </a:extLst>
          </p:cNvPr>
          <p:cNvSpPr>
            <a:spLocks noGrp="1"/>
          </p:cNvSpPr>
          <p:nvPr/>
        </p:nvSpPr>
        <p:spPr>
          <a:xfrm>
            <a:off x="1057081" y="2332037"/>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endParaRPr lang="en-IN" dirty="0"/>
          </a:p>
        </p:txBody>
      </p:sp>
      <p:sp>
        <p:nvSpPr>
          <p:cNvPr id="8" name="TextBox 7">
            <a:extLst>
              <a:ext uri="{FF2B5EF4-FFF2-40B4-BE49-F238E27FC236}">
                <a16:creationId xmlns:a16="http://schemas.microsoft.com/office/drawing/2014/main" id="{783B6E25-25E9-A4FD-9FB9-E588397180ED}"/>
              </a:ext>
            </a:extLst>
          </p:cNvPr>
          <p:cNvSpPr txBox="1"/>
          <p:nvPr/>
        </p:nvSpPr>
        <p:spPr>
          <a:xfrm>
            <a:off x="609600" y="2181285"/>
            <a:ext cx="11353800" cy="4524315"/>
          </a:xfrm>
          <a:prstGeom prst="rect">
            <a:avLst/>
          </a:prstGeom>
          <a:noFill/>
        </p:spPr>
        <p:txBody>
          <a:bodyPr wrap="square" rtlCol="0">
            <a:spAutoFit/>
          </a:bodyPr>
          <a:lstStyle/>
          <a:p>
            <a:r>
              <a:rPr lang="en-US" dirty="0"/>
              <a:t>This project focuses on implementing a banking system using fundamental concepts of </a:t>
            </a:r>
            <a:r>
              <a:rPr lang="en-US" b="1" dirty="0"/>
              <a:t>Data Structures and Algorithms (DSA)</a:t>
            </a:r>
            <a:r>
              <a:rPr lang="en-US" dirty="0"/>
              <a:t>. It demonstrates how different data structures can be used to organize, store, and process banking data in an efficient and structured manner.</a:t>
            </a:r>
          </a:p>
          <a:p>
            <a:r>
              <a:rPr lang="en-US" dirty="0"/>
              <a:t>Arrays are used to store fixed-size data such as account numbers, branch codes, interest rates, transaction limits, and account types, providing fast and direct access to records. Linked Lists are utilized for managing dynamic data like transaction history and loan records, allowing efficient insertion and deletion without data shifting.</a:t>
            </a:r>
          </a:p>
          <a:p>
            <a:r>
              <a:rPr lang="en-US" dirty="0"/>
              <a:t>Stacks are implemented to support undo and redo operations during transactions, ensuring data safety and recovery in case of errors. Queues are used to handle customer service requests and loan processing in a fair and systematic manner following the FIFO principle.</a:t>
            </a:r>
          </a:p>
          <a:p>
            <a:r>
              <a:rPr lang="en-US" dirty="0"/>
              <a:t>Additionally, searching algorithms such as Linear Search and Binary Search are used to quickly locate account and transaction details. Sorting algorithms help organize data for better analysis, such as sorting customers by balance or transactions by date.</a:t>
            </a:r>
          </a:p>
          <a:p>
            <a:r>
              <a:rPr lang="en-US" dirty="0"/>
              <a:t>Overall, this project highlights how DSA concepts can be applied to build a reliable, efficient, and scalable banking system that improves performance and ensures accurate data management.</a:t>
            </a:r>
          </a:p>
          <a:p>
            <a:endParaRPr lang="en-IN" dirty="0"/>
          </a:p>
        </p:txBody>
      </p:sp>
      <p:sp>
        <p:nvSpPr>
          <p:cNvPr id="9" name="TextBox 8">
            <a:extLst>
              <a:ext uri="{FF2B5EF4-FFF2-40B4-BE49-F238E27FC236}">
                <a16:creationId xmlns:a16="http://schemas.microsoft.com/office/drawing/2014/main" id="{123695E7-3D91-17A5-DA7B-CD28E591E108}"/>
              </a:ext>
            </a:extLst>
          </p:cNvPr>
          <p:cNvSpPr txBox="1"/>
          <p:nvPr/>
        </p:nvSpPr>
        <p:spPr>
          <a:xfrm>
            <a:off x="762000" y="1295400"/>
            <a:ext cx="2971799" cy="369332"/>
          </a:xfrm>
          <a:prstGeom prst="rect">
            <a:avLst/>
          </a:prstGeom>
          <a:noFill/>
        </p:spPr>
        <p:txBody>
          <a:bodyPr wrap="square" rtlCol="0">
            <a:spAutoFit/>
          </a:bodyPr>
          <a:lstStyle/>
          <a:p>
            <a:r>
              <a:rPr lang="en-IN" b="1" u="sng" dirty="0"/>
              <a:t>PROJECT DESCRIPTION: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AA23C-7080-5BBE-5098-AB2FBA907294}"/>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FFB1AA26-5FC9-3B53-EA72-CD0381648B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472" y="188976"/>
            <a:ext cx="1419218" cy="83820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94FD57F-5041-3B6B-0990-A6ADF28A406F}"/>
              </a:ext>
            </a:extLst>
          </p:cNvPr>
          <p:cNvSpPr txBox="1"/>
          <p:nvPr/>
        </p:nvSpPr>
        <p:spPr>
          <a:xfrm>
            <a:off x="1600200" y="152400"/>
            <a:ext cx="10210800" cy="707886"/>
          </a:xfrm>
          <a:prstGeom prst="rect">
            <a:avLst/>
          </a:prstGeom>
          <a:noFill/>
        </p:spPr>
        <p:txBody>
          <a:bodyPr wrap="square" rtlCol="0">
            <a:spAutoFit/>
          </a:bodyPr>
          <a:lstStyle/>
          <a:p>
            <a:pPr algn="ctr"/>
            <a:r>
              <a:rPr lang="en-IN" sz="4000" b="1" u="sng" dirty="0"/>
              <a:t>BANK MANAGEMENT SYSTEM</a:t>
            </a:r>
          </a:p>
        </p:txBody>
      </p:sp>
      <p:sp>
        <p:nvSpPr>
          <p:cNvPr id="6" name="Title 1">
            <a:extLst>
              <a:ext uri="{FF2B5EF4-FFF2-40B4-BE49-F238E27FC236}">
                <a16:creationId xmlns:a16="http://schemas.microsoft.com/office/drawing/2014/main" id="{7E076034-90EC-0289-AB74-F779C60AEF9E}"/>
              </a:ext>
            </a:extLst>
          </p:cNvPr>
          <p:cNvSpPr>
            <a:spLocks noGrp="1"/>
          </p:cNvSpPr>
          <p:nvPr/>
        </p:nvSpPr>
        <p:spPr>
          <a:xfrm>
            <a:off x="-1752600" y="1189037"/>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sz="3200" dirty="0"/>
              <a:t>Team Members</a:t>
            </a:r>
          </a:p>
        </p:txBody>
      </p:sp>
      <p:sp>
        <p:nvSpPr>
          <p:cNvPr id="7" name="Content Placeholder 2">
            <a:extLst>
              <a:ext uri="{FF2B5EF4-FFF2-40B4-BE49-F238E27FC236}">
                <a16:creationId xmlns:a16="http://schemas.microsoft.com/office/drawing/2014/main" id="{F7AB7DCB-6172-BAFF-2001-97029AD9851C}"/>
              </a:ext>
            </a:extLst>
          </p:cNvPr>
          <p:cNvSpPr>
            <a:spLocks noGrp="1"/>
          </p:cNvSpPr>
          <p:nvPr/>
        </p:nvSpPr>
        <p:spPr>
          <a:xfrm>
            <a:off x="1057081" y="2332037"/>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lang="en-IN" dirty="0"/>
              <a:t>Hanish </a:t>
            </a:r>
            <a:r>
              <a:rPr lang="en-IN" dirty="0" err="1"/>
              <a:t>reddy</a:t>
            </a:r>
            <a:r>
              <a:rPr lang="en-IN" dirty="0"/>
              <a:t> -2510030290</a:t>
            </a:r>
          </a:p>
          <a:p>
            <a:r>
              <a:rPr lang="en-IN" dirty="0"/>
              <a:t>Abhilash-2510030231</a:t>
            </a:r>
          </a:p>
          <a:p>
            <a:r>
              <a:rPr lang="en-IN" dirty="0"/>
              <a:t>Vineeth reddy-2510030240</a:t>
            </a:r>
          </a:p>
          <a:p>
            <a:r>
              <a:rPr lang="en-IN" dirty="0"/>
              <a:t>Siddharth -2510030423</a:t>
            </a:r>
          </a:p>
          <a:p>
            <a:r>
              <a:rPr lang="en-IN" dirty="0"/>
              <a:t>Sai Varun reddy-2510030021</a:t>
            </a:r>
          </a:p>
          <a:p>
            <a:r>
              <a:rPr lang="en-IN" dirty="0"/>
              <a:t>Arun -2510080062(04)</a:t>
            </a:r>
          </a:p>
          <a:p>
            <a:r>
              <a:rPr lang="en-IN" dirty="0"/>
              <a:t>Varun reddy-2510040076(04)</a:t>
            </a:r>
          </a:p>
        </p:txBody>
      </p:sp>
    </p:spTree>
    <p:extLst>
      <p:ext uri="{BB962C8B-B14F-4D97-AF65-F5344CB8AC3E}">
        <p14:creationId xmlns:p14="http://schemas.microsoft.com/office/powerpoint/2010/main" val="3997925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0" y="6786561"/>
            <a:ext cx="10364451" cy="567463"/>
          </a:xfrm>
          <a:prstGeom prst="rect">
            <a:avLst/>
          </a:prstGeom>
        </p:spPr>
        <p:txBody>
          <a:bodyPr vert="horz" wrap="square" lIns="0" tIns="13335" rIns="0" bIns="0" rtlCol="0">
            <a:spAutoFit/>
          </a:bodyPr>
          <a:lstStyle/>
          <a:p>
            <a:pPr marL="12700">
              <a:lnSpc>
                <a:spcPct val="100000"/>
              </a:lnSpc>
              <a:spcBef>
                <a:spcPts val="105"/>
              </a:spcBef>
            </a:pPr>
            <a:endParaRPr spc="-40" dirty="0"/>
          </a:p>
        </p:txBody>
      </p:sp>
      <p:sp>
        <p:nvSpPr>
          <p:cNvPr id="7" name="object 6"/>
          <p:cNvSpPr txBox="1">
            <a:spLocks noGrp="1"/>
          </p:cNvSpPr>
          <p:nvPr>
            <p:ph type="ftr" sz="quarter" idx="11"/>
          </p:nvPr>
        </p:nvSpPr>
        <p:spPr>
          <a:xfrm>
            <a:off x="533400" y="6445160"/>
            <a:ext cx="10820400" cy="206018"/>
          </a:xfrm>
          <a:prstGeom prst="rect">
            <a:avLst/>
          </a:prstGeom>
        </p:spPr>
        <p:txBody>
          <a:bodyPr vert="horz" wrap="square" lIns="0" tIns="0" rIns="0" bIns="0" rtlCol="0">
            <a:spAutoFit/>
          </a:bodyPr>
          <a:lstStyle/>
          <a:p>
            <a:pPr marL="12700">
              <a:lnSpc>
                <a:spcPts val="1810"/>
              </a:lnSpc>
            </a:pPr>
            <a:endParaRPr spc="-50" dirty="0"/>
          </a:p>
        </p:txBody>
      </p:sp>
      <p:sp>
        <p:nvSpPr>
          <p:cNvPr id="9" name="Title 1">
            <a:extLst>
              <a:ext uri="{FF2B5EF4-FFF2-40B4-BE49-F238E27FC236}">
                <a16:creationId xmlns:a16="http://schemas.microsoft.com/office/drawing/2014/main" id="{94F83C9E-CCA8-384A-6E58-403D15F24FE4}"/>
              </a:ext>
            </a:extLst>
          </p:cNvPr>
          <p:cNvSpPr>
            <a:spLocks noGrp="1"/>
          </p:cNvSpPr>
          <p:nvPr/>
        </p:nvSpPr>
        <p:spPr>
          <a:xfrm>
            <a:off x="1828800" y="52811"/>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dirty="0"/>
              <a:t>Modules</a:t>
            </a:r>
          </a:p>
        </p:txBody>
      </p:sp>
      <p:sp>
        <p:nvSpPr>
          <p:cNvPr id="10" name="Content Placeholder 2">
            <a:extLst>
              <a:ext uri="{FF2B5EF4-FFF2-40B4-BE49-F238E27FC236}">
                <a16:creationId xmlns:a16="http://schemas.microsoft.com/office/drawing/2014/main" id="{C601882A-887F-6D93-6A18-38BEF0D50EE4}"/>
              </a:ext>
            </a:extLst>
          </p:cNvPr>
          <p:cNvSpPr>
            <a:spLocks noGrp="1"/>
          </p:cNvSpPr>
          <p:nvPr/>
        </p:nvSpPr>
        <p:spPr>
          <a:xfrm>
            <a:off x="1981200" y="1828799"/>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dirty="0"/>
              <a:t>1. Account Management</a:t>
            </a:r>
          </a:p>
          <a:p>
            <a:r>
              <a:rPr dirty="0"/>
              <a:t>2. Search</a:t>
            </a:r>
          </a:p>
          <a:p>
            <a:r>
              <a:rPr dirty="0"/>
              <a:t>3. Sorting</a:t>
            </a:r>
          </a:p>
          <a:p>
            <a:r>
              <a:rPr dirty="0"/>
              <a:t>4. Transactions</a:t>
            </a:r>
          </a:p>
          <a:p>
            <a:r>
              <a:rPr dirty="0"/>
              <a:t>5. Undo</a:t>
            </a:r>
          </a:p>
        </p:txBody>
      </p:sp>
      <p:pic>
        <p:nvPicPr>
          <p:cNvPr id="11" name="Picture 2">
            <a:extLst>
              <a:ext uri="{FF2B5EF4-FFF2-40B4-BE49-F238E27FC236}">
                <a16:creationId xmlns:a16="http://schemas.microsoft.com/office/drawing/2014/main" id="{20B6ED7D-500F-296A-087E-AC1DA2EE43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472" y="188976"/>
            <a:ext cx="1419218" cy="83820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D754AC1-9451-7ADA-859B-51A1CECD913D}"/>
              </a:ext>
            </a:extLst>
          </p:cNvPr>
          <p:cNvSpPr>
            <a:spLocks noGrp="1"/>
          </p:cNvSpPr>
          <p:nvPr/>
        </p:nvSpPr>
        <p:spPr>
          <a:xfrm>
            <a:off x="2819400" y="-152400"/>
            <a:ext cx="6705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t>Account Management</a:t>
            </a:r>
          </a:p>
        </p:txBody>
      </p:sp>
      <p:sp>
        <p:nvSpPr>
          <p:cNvPr id="14" name="Content Placeholder 2">
            <a:extLst>
              <a:ext uri="{FF2B5EF4-FFF2-40B4-BE49-F238E27FC236}">
                <a16:creationId xmlns:a16="http://schemas.microsoft.com/office/drawing/2014/main" id="{BD7F019E-607A-C85B-6D62-36A48AFA868E}"/>
              </a:ext>
            </a:extLst>
          </p:cNvPr>
          <p:cNvSpPr>
            <a:spLocks noGrp="1"/>
          </p:cNvSpPr>
          <p:nvPr/>
        </p:nvSpPr>
        <p:spPr>
          <a:xfrm>
            <a:off x="1447800" y="695324"/>
            <a:ext cx="8229600" cy="175260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800"/>
              <a:t>Stores account details using arrays.</a:t>
            </a:r>
          </a:p>
          <a:p>
            <a:r>
              <a:rPr sz="1800"/>
              <a:t>Input and display accounts.</a:t>
            </a:r>
          </a:p>
          <a:p>
            <a:r>
              <a:rPr sz="1800"/>
              <a:t>Fields: Acc No, Branch, Interest, Limit, Type</a:t>
            </a:r>
          </a:p>
        </p:txBody>
      </p:sp>
      <p:pic>
        <p:nvPicPr>
          <p:cNvPr id="3" name="Picture 2">
            <a:extLst>
              <a:ext uri="{FF2B5EF4-FFF2-40B4-BE49-F238E27FC236}">
                <a16:creationId xmlns:a16="http://schemas.microsoft.com/office/drawing/2014/main" id="{DB3D190B-DF8E-39DF-09D5-97258A96900D}"/>
              </a:ext>
            </a:extLst>
          </p:cNvPr>
          <p:cNvPicPr>
            <a:picLocks noChangeAspect="1"/>
          </p:cNvPicPr>
          <p:nvPr/>
        </p:nvPicPr>
        <p:blipFill>
          <a:blip r:embed="rId2"/>
          <a:stretch>
            <a:fillRect/>
          </a:stretch>
        </p:blipFill>
        <p:spPr>
          <a:xfrm>
            <a:off x="533400" y="2695576"/>
            <a:ext cx="5248976" cy="3429000"/>
          </a:xfrm>
          <a:prstGeom prst="rect">
            <a:avLst/>
          </a:prstGeom>
        </p:spPr>
      </p:pic>
      <p:pic>
        <p:nvPicPr>
          <p:cNvPr id="5" name="Picture 4">
            <a:extLst>
              <a:ext uri="{FF2B5EF4-FFF2-40B4-BE49-F238E27FC236}">
                <a16:creationId xmlns:a16="http://schemas.microsoft.com/office/drawing/2014/main" id="{DC702874-31BC-F126-9F63-4A43B49F3EDD}"/>
              </a:ext>
            </a:extLst>
          </p:cNvPr>
          <p:cNvPicPr>
            <a:picLocks noChangeAspect="1"/>
          </p:cNvPicPr>
          <p:nvPr/>
        </p:nvPicPr>
        <p:blipFill>
          <a:blip r:embed="rId3"/>
          <a:stretch>
            <a:fillRect/>
          </a:stretch>
        </p:blipFill>
        <p:spPr>
          <a:xfrm>
            <a:off x="6019800" y="2695576"/>
            <a:ext cx="6044445" cy="34766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9652738-59BB-84D3-C130-419A99BF1C29}"/>
              </a:ext>
            </a:extLst>
          </p:cNvPr>
          <p:cNvSpPr>
            <a:spLocks noGrp="1"/>
          </p:cNvSpPr>
          <p:nvPr/>
        </p:nvSpPr>
        <p:spPr>
          <a:xfrm>
            <a:off x="2209800" y="-68262"/>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t>Search &amp; Sorting</a:t>
            </a:r>
          </a:p>
        </p:txBody>
      </p:sp>
      <p:sp>
        <p:nvSpPr>
          <p:cNvPr id="11" name="Content Placeholder 2">
            <a:extLst>
              <a:ext uri="{FF2B5EF4-FFF2-40B4-BE49-F238E27FC236}">
                <a16:creationId xmlns:a16="http://schemas.microsoft.com/office/drawing/2014/main" id="{6A11172B-5240-DE18-A2F2-FF5B89DF1528}"/>
              </a:ext>
            </a:extLst>
          </p:cNvPr>
          <p:cNvSpPr>
            <a:spLocks noGrp="1"/>
          </p:cNvSpPr>
          <p:nvPr/>
        </p:nvSpPr>
        <p:spPr>
          <a:xfrm>
            <a:off x="1771650" y="838200"/>
            <a:ext cx="8229600" cy="114300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800"/>
              <a:t>Linear Search for unsorted data</a:t>
            </a:r>
          </a:p>
          <a:p>
            <a:r>
              <a:rPr sz="1800"/>
              <a:t>Binary Search after sorting</a:t>
            </a:r>
          </a:p>
          <a:p>
            <a:r>
              <a:rPr sz="1800"/>
              <a:t>Bubble Sort for sorting accounts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81239AA-3E89-1D21-F76D-93B010DE669A}"/>
              </a:ext>
            </a:extLst>
          </p:cNvPr>
          <p:cNvSpPr>
            <a:spLocks noGrp="1"/>
          </p:cNvSpPr>
          <p:nvPr/>
        </p:nvSpPr>
        <p:spPr>
          <a:xfrm>
            <a:off x="2209800" y="-152400"/>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dirty="0"/>
              <a:t>Transaction </a:t>
            </a:r>
            <a:r>
              <a:rPr lang="en-IN" dirty="0"/>
              <a:t>M</a:t>
            </a:r>
            <a:r>
              <a:rPr dirty="0" err="1"/>
              <a:t>odule</a:t>
            </a:r>
            <a:endParaRPr dirty="0"/>
          </a:p>
        </p:txBody>
      </p:sp>
      <p:sp>
        <p:nvSpPr>
          <p:cNvPr id="11" name="Content Placeholder 2">
            <a:extLst>
              <a:ext uri="{FF2B5EF4-FFF2-40B4-BE49-F238E27FC236}">
                <a16:creationId xmlns:a16="http://schemas.microsoft.com/office/drawing/2014/main" id="{61D418ED-32CB-36D7-687B-EB3D405FF054}"/>
              </a:ext>
            </a:extLst>
          </p:cNvPr>
          <p:cNvSpPr>
            <a:spLocks noGrp="1"/>
          </p:cNvSpPr>
          <p:nvPr/>
        </p:nvSpPr>
        <p:spPr>
          <a:xfrm>
            <a:off x="2057400" y="838201"/>
            <a:ext cx="8229600" cy="10668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800"/>
              <a:t>Linked List for transactions</a:t>
            </a:r>
          </a:p>
          <a:p>
            <a:r>
              <a:rPr sz="1800"/>
              <a:t>Dynamic storage</a:t>
            </a:r>
          </a:p>
          <a:p>
            <a:r>
              <a:rPr sz="1800"/>
              <a:t>Add and display transactions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94D5A17-FE3C-B353-A0B5-328AEE865AF8}"/>
              </a:ext>
            </a:extLst>
          </p:cNvPr>
          <p:cNvSpPr>
            <a:spLocks noGrp="1"/>
          </p:cNvSpPr>
          <p:nvPr/>
        </p:nvSpPr>
        <p:spPr>
          <a:xfrm>
            <a:off x="1971675" y="-68262"/>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t>Stack Module</a:t>
            </a:r>
          </a:p>
        </p:txBody>
      </p:sp>
      <p:sp>
        <p:nvSpPr>
          <p:cNvPr id="10" name="Content Placeholder 2">
            <a:extLst>
              <a:ext uri="{FF2B5EF4-FFF2-40B4-BE49-F238E27FC236}">
                <a16:creationId xmlns:a16="http://schemas.microsoft.com/office/drawing/2014/main" id="{7CA13E1F-CEDE-9B31-1717-44FBB9CAE3BC}"/>
              </a:ext>
            </a:extLst>
          </p:cNvPr>
          <p:cNvSpPr>
            <a:spLocks noGrp="1"/>
          </p:cNvSpPr>
          <p:nvPr/>
        </p:nvSpPr>
        <p:spPr>
          <a:xfrm>
            <a:off x="2009775" y="1074738"/>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800"/>
              <a:t>Stack used for undo operation</a:t>
            </a:r>
          </a:p>
          <a:p>
            <a:r>
              <a:rPr sz="1800"/>
              <a:t>Push and pop operations</a:t>
            </a:r>
          </a:p>
          <a:p>
            <a:r>
              <a:rPr sz="1800"/>
              <a:t>Maintains transaction history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60" dirty="0"/>
              <a:t>Risks</a:t>
            </a:r>
            <a:r>
              <a:rPr spc="-190" dirty="0"/>
              <a:t> </a:t>
            </a:r>
            <a:r>
              <a:rPr spc="-25" dirty="0"/>
              <a:t>and</a:t>
            </a:r>
            <a:r>
              <a:rPr spc="-204" dirty="0"/>
              <a:t> </a:t>
            </a:r>
            <a:r>
              <a:rPr spc="-25" dirty="0"/>
              <a:t>Gap</a:t>
            </a:r>
          </a:p>
        </p:txBody>
      </p:sp>
      <p:sp>
        <p:nvSpPr>
          <p:cNvPr id="7" name="object 6"/>
          <p:cNvSpPr txBox="1">
            <a:spLocks noGrp="1"/>
          </p:cNvSpPr>
          <p:nvPr>
            <p:ph type="ftr" sz="quarter" idx="11"/>
          </p:nvPr>
        </p:nvSpPr>
        <p:spPr>
          <a:xfrm>
            <a:off x="533400" y="6432753"/>
            <a:ext cx="10820400" cy="230832"/>
          </a:xfrm>
          <a:prstGeom prst="rect">
            <a:avLst/>
          </a:prstGeom>
        </p:spPr>
        <p:txBody>
          <a:bodyPr vert="horz" wrap="square" lIns="0" tIns="0" rIns="0" bIns="0" rtlCol="0">
            <a:spAutoFit/>
          </a:bodyPr>
          <a:lstStyle/>
          <a:p>
            <a:pPr marL="12700">
              <a:lnSpc>
                <a:spcPts val="1810"/>
              </a:lnSpc>
            </a:pPr>
            <a:r>
              <a:rPr lang="en-US" spc="-80" dirty="0"/>
              <a:t>Design Thinking and Innovation</a:t>
            </a:r>
            <a:r>
              <a:rPr spc="-114" dirty="0"/>
              <a:t> </a:t>
            </a:r>
            <a:r>
              <a:rPr spc="-130" dirty="0"/>
              <a:t>|</a:t>
            </a:r>
            <a:r>
              <a:rPr spc="-110" dirty="0"/>
              <a:t> </a:t>
            </a:r>
            <a:r>
              <a:rPr lang="en-US" spc="-110" dirty="0"/>
              <a:t>Department of Multi Disciplinary Innovation &amp; Entrepreneurship </a:t>
            </a:r>
            <a:endParaRPr spc="-50" dirty="0"/>
          </a:p>
        </p:txBody>
      </p:sp>
      <p:grpSp>
        <p:nvGrpSpPr>
          <p:cNvPr id="3" name="object 3"/>
          <p:cNvGrpSpPr/>
          <p:nvPr/>
        </p:nvGrpSpPr>
        <p:grpSpPr>
          <a:xfrm>
            <a:off x="-6350" y="6214617"/>
            <a:ext cx="12204700" cy="650240"/>
            <a:chOff x="-6350" y="6214617"/>
            <a:chExt cx="12204700" cy="650240"/>
          </a:xfrm>
        </p:grpSpPr>
        <p:sp>
          <p:nvSpPr>
            <p:cNvPr id="4" name="object 4"/>
            <p:cNvSpPr/>
            <p:nvPr/>
          </p:nvSpPr>
          <p:spPr>
            <a:xfrm>
              <a:off x="0" y="6220967"/>
              <a:ext cx="12192000" cy="637540"/>
            </a:xfrm>
            <a:custGeom>
              <a:avLst/>
              <a:gdLst/>
              <a:ahLst/>
              <a:cxnLst/>
              <a:rect l="l" t="t" r="r" b="b"/>
              <a:pathLst>
                <a:path w="12192000" h="637540">
                  <a:moveTo>
                    <a:pt x="12192000" y="0"/>
                  </a:moveTo>
                  <a:lnTo>
                    <a:pt x="0" y="0"/>
                  </a:lnTo>
                  <a:lnTo>
                    <a:pt x="0" y="637032"/>
                  </a:lnTo>
                  <a:lnTo>
                    <a:pt x="12192000" y="637032"/>
                  </a:lnTo>
                  <a:lnTo>
                    <a:pt x="12192000" y="0"/>
                  </a:lnTo>
                  <a:close/>
                </a:path>
              </a:pathLst>
            </a:custGeom>
            <a:solidFill>
              <a:srgbClr val="C00000"/>
            </a:solidFill>
          </p:spPr>
          <p:txBody>
            <a:bodyPr wrap="square" lIns="0" tIns="0" rIns="0" bIns="0" rtlCol="0"/>
            <a:lstStyle/>
            <a:p>
              <a:endParaRPr/>
            </a:p>
          </p:txBody>
        </p:sp>
        <p:sp>
          <p:nvSpPr>
            <p:cNvPr id="5" name="object 5"/>
            <p:cNvSpPr/>
            <p:nvPr/>
          </p:nvSpPr>
          <p:spPr>
            <a:xfrm>
              <a:off x="0" y="6220967"/>
              <a:ext cx="12192000" cy="637540"/>
            </a:xfrm>
            <a:custGeom>
              <a:avLst/>
              <a:gdLst/>
              <a:ahLst/>
              <a:cxnLst/>
              <a:rect l="l" t="t" r="r" b="b"/>
              <a:pathLst>
                <a:path w="12192000" h="637540">
                  <a:moveTo>
                    <a:pt x="0" y="637032"/>
                  </a:moveTo>
                  <a:lnTo>
                    <a:pt x="12192000" y="637032"/>
                  </a:lnTo>
                  <a:lnTo>
                    <a:pt x="12192000" y="0"/>
                  </a:lnTo>
                  <a:lnTo>
                    <a:pt x="0" y="0"/>
                  </a:lnTo>
                  <a:lnTo>
                    <a:pt x="0" y="637032"/>
                  </a:lnTo>
                  <a:close/>
                </a:path>
              </a:pathLst>
            </a:custGeom>
            <a:ln w="12699">
              <a:solidFill>
                <a:srgbClr val="C00000"/>
              </a:solidFill>
            </a:ln>
          </p:spPr>
          <p:txBody>
            <a:bodyPr wrap="square" lIns="0" tIns="0" rIns="0" bIns="0" rtlCol="0"/>
            <a:lstStyle/>
            <a:p>
              <a:endParaRPr/>
            </a:p>
          </p:txBody>
        </p:sp>
      </p:grpSp>
      <p:sp>
        <p:nvSpPr>
          <p:cNvPr id="6" name="TextBox 5">
            <a:extLst>
              <a:ext uri="{FF2B5EF4-FFF2-40B4-BE49-F238E27FC236}">
                <a16:creationId xmlns:a16="http://schemas.microsoft.com/office/drawing/2014/main" id="{F376E674-6222-9D0B-2EBD-0D1A461DAA14}"/>
              </a:ext>
            </a:extLst>
          </p:cNvPr>
          <p:cNvSpPr txBox="1"/>
          <p:nvPr/>
        </p:nvSpPr>
        <p:spPr>
          <a:xfrm>
            <a:off x="762000" y="1828800"/>
            <a:ext cx="8077200" cy="2308324"/>
          </a:xfrm>
          <a:prstGeom prst="rect">
            <a:avLst/>
          </a:prstGeom>
          <a:noFill/>
        </p:spPr>
        <p:txBody>
          <a:bodyPr wrap="square" rtlCol="0">
            <a:spAutoFit/>
          </a:bodyPr>
          <a:lstStyle/>
          <a:p>
            <a:pPr marL="342900" indent="-342900">
              <a:buAutoNum type="arabicPeriod"/>
            </a:pPr>
            <a:r>
              <a:rPr lang="en-IN" dirty="0"/>
              <a:t>Consumers/ users may think that they are rich enough to not install the solar panels. So we have to keep upgrading. </a:t>
            </a:r>
          </a:p>
          <a:p>
            <a:pPr marL="342900" indent="-342900">
              <a:buAutoNum type="arabicPeriod"/>
            </a:pPr>
            <a:endParaRPr lang="en-IN" dirty="0"/>
          </a:p>
          <a:p>
            <a:pPr marL="342900" indent="-342900">
              <a:buAutoNum type="arabicPeriod"/>
            </a:pPr>
            <a:r>
              <a:rPr lang="en-IN" dirty="0"/>
              <a:t>Low sunlight areas </a:t>
            </a:r>
          </a:p>
          <a:p>
            <a:pPr marL="342900" indent="-342900">
              <a:buAutoNum type="arabicPeriod"/>
            </a:pPr>
            <a:endParaRPr lang="en-IN" dirty="0"/>
          </a:p>
          <a:p>
            <a:pPr marL="342900" indent="-342900">
              <a:buAutoNum type="arabicPeriod"/>
            </a:pPr>
            <a:r>
              <a:rPr lang="en-IN" dirty="0"/>
              <a:t>Cleaning of solar panels time to time to not reduce the performance</a:t>
            </a:r>
          </a:p>
          <a:p>
            <a:pPr marL="342900" indent="-342900">
              <a:buAutoNum type="arabicPeriod"/>
            </a:pPr>
            <a:endParaRPr lang="en-IN" dirty="0"/>
          </a:p>
          <a:p>
            <a:pPr marL="342900" indent="-342900">
              <a:buAutoNum type="arabicPeriod"/>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ank you eCards - send free eCards from 123cards.com">
            <a:extLst>
              <a:ext uri="{FF2B5EF4-FFF2-40B4-BE49-F238E27FC236}">
                <a16:creationId xmlns:a16="http://schemas.microsoft.com/office/drawing/2014/main" id="{53CFFDF5-A5F5-B650-0831-2E5080D763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847"/>
            <a:ext cx="12192000" cy="6836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443319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776</TotalTime>
  <Words>388</Words>
  <Application>Microsoft Office PowerPoint</Application>
  <PresentationFormat>Widescreen</PresentationFormat>
  <Paragraphs>45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Tw Cen MT</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Risks and Gap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Dr. G. Suresh Kumar</dc:creator>
  <cp:lastModifiedBy>hanireddy2109@outlook.com</cp:lastModifiedBy>
  <cp:revision>12</cp:revision>
  <dcterms:created xsi:type="dcterms:W3CDTF">2024-11-15T04:43:19Z</dcterms:created>
  <dcterms:modified xsi:type="dcterms:W3CDTF">2026-03-28T04:18:25Z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2024-11-15T00:00:00Z</vt:filetime>
  </property>
  <property fmtid="{D5CDD505-2E9C-101B-9397-08002B2CF9AE}" pid="3" name="Producer">
    <vt:lpwstr>3-Heights(TM) PDF Security Shell 4.8.25.2 (http://www.pdf-tools.com)</vt:lpwstr>
  </property>
</Properties>
</file>